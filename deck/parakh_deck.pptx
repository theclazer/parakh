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45720"/>
            <a:ext cx="2651760" cy="2651760"/>
          </a:xfrm>
          <a:prstGeom prst="ellipse">
            <a:avLst/>
          </a:prstGeom>
          <a:noFill/>
          <a:ln w="19050">
            <a:solidFill>
              <a:srgbClr val="33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3428999"/>
            <a:ext cx="1554480" cy="1554480"/>
          </a:xfrm>
          <a:prstGeom prst="ellipse">
            <a:avLst/>
          </a:prstGeom>
          <a:noFill/>
          <a:ln w="19050">
            <a:solidFill>
              <a:srgbClr val="33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4892040"/>
            <a:ext cx="1005840" cy="1005840"/>
          </a:xfrm>
          <a:prstGeom prst="ellipse">
            <a:avLst/>
          </a:prstGeom>
          <a:noFill/>
          <a:ln w="19050">
            <a:solidFill>
              <a:srgbClr val="33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051560"/>
            <a:ext cx="365760" cy="365760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6500" y="1172260"/>
            <a:ext cx="124358" cy="124358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FD6DE"/>
                </a:solidFill>
                <a:latin typeface="Calibri"/>
              </a:rPr>
              <a:t>THE DATA &amp; AI CHALLENGE  ·  REDROB × INDIA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8686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0" b="1" i="0">
                <a:solidFill>
                  <a:srgbClr val="FFFFFF"/>
                </a:solidFill>
                <a:latin typeface="Cambria"/>
              </a:rPr>
              <a:t>Parakh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27248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B0894A"/>
                </a:solidFill>
                <a:latin typeface="Cambria"/>
              </a:rPr>
              <a:t>/ pə-rəkh /  —  to assay; to test whether gold is genuine.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CFD6DE"/>
                </a:solidFill>
                <a:latin typeface="Calibri"/>
              </a:rPr>
              <a:t>A candidate ranker that </a:t>
            </a:r>
            <a:r>
              <a:rPr sz="2200" b="1" i="1">
                <a:solidFill>
                  <a:srgbClr val="FFFFFF"/>
                </a:solidFill>
                <a:latin typeface="Calibri"/>
              </a:rPr>
              <a:t>verifies</a:t>
            </a:r>
            <a:r>
              <a:rPr sz="2200" b="0" i="0">
                <a:solidFill>
                  <a:srgbClr val="CFD6DE"/>
                </a:solidFill>
                <a:latin typeface="Calibri"/>
              </a:rPr>
              <a:t> each profile before it trusts it —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CFD6DE"/>
                </a:solidFill>
                <a:latin typeface="Calibri"/>
              </a:rPr>
              <a:t>telling genuine engineers from convincing fakes.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486400"/>
            <a:ext cx="2926080" cy="18288"/>
          </a:xfrm>
          <a:prstGeom prst="rect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Team Evolve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FD6DE"/>
                </a:solidFill>
                <a:latin typeface="Calibri"/>
              </a:rPr>
              <a:t>Rayyan Ahmed Shaikh   ·   Inchara   ·   Harshita Nagesh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2A41"/>
                </a:solidFill>
                <a:latin typeface="Cambria"/>
              </a:rPr>
              <a:t>Great candidates are missed —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2A41"/>
                </a:solidFill>
                <a:latin typeface="Cambria"/>
              </a:rPr>
              <a:t>not absent, just unseen.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126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Recruiters scan hundreds of profiles and still miss the right person — because </a:t>
            </a:r>
            <a:r>
              <a:rPr sz="1600" b="1" i="0">
                <a:solidFill>
                  <a:srgbClr val="1B2A41"/>
                </a:solidFill>
                <a:latin typeface="Calibri"/>
              </a:rPr>
              <a:t>keyword filters can't see fit.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They reward whoever lists the most buzzwords, and overlook the engineer who </a:t>
            </a:r>
            <a:r>
              <a:rPr sz="1600" b="1" i="0">
                <a:solidFill>
                  <a:srgbClr val="1B2A41"/>
                </a:solidFill>
                <a:latin typeface="Calibri"/>
              </a:rPr>
              <a:t>built the exact system</a:t>
            </a:r>
            <a:r>
              <a:rPr sz="1600" b="0" i="0">
                <a:solidFill>
                  <a:srgbClr val="5A6472"/>
                </a:solidFill>
                <a:latin typeface="Calibri"/>
              </a:rPr>
              <a:t> but described it plainly.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In a pool of 100,000 the real fits are a needle in a haystack — and half the score rides on the top 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051560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216151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B2A41"/>
                </a:solidFill>
                <a:latin typeface="Cambria"/>
              </a:rPr>
              <a:t>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965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profiles in the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624328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78892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8A6933"/>
                </a:solidFill>
                <a:latin typeface="Cambria"/>
              </a:rPr>
              <a:t>~ few hundred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35387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genuinely fit the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197096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36168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0E7C66"/>
                </a:solidFill>
                <a:latin typeface="Cambria"/>
              </a:rPr>
              <a:t>Top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11149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carry 50% of the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WHY NAÏVE MATCHING LOSES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The dataset is engineered to punish keyword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30952" cy="1965960"/>
          </a:xfrm>
          <a:prstGeom prst="roundRect">
            <a:avLst>
              <a:gd name="adj" fmla="val 6000"/>
            </a:avLst>
          </a:prstGeom>
          <a:solidFill>
            <a:srgbClr val="F7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267712"/>
            <a:ext cx="310896" cy="310896"/>
          </a:xfrm>
          <a:prstGeom prst="ellipse">
            <a:avLst/>
          </a:prstGeom>
          <a:noFill/>
          <a:ln w="19050">
            <a:solidFill>
              <a:srgbClr val="B44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4427" y="2370307"/>
            <a:ext cx="105704" cy="105704"/>
          </a:xfrm>
          <a:prstGeom prst="ellipse">
            <a:avLst/>
          </a:prstGeom>
          <a:solidFill>
            <a:srgbClr val="B4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21284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A41"/>
                </a:solidFill>
                <a:latin typeface="Cambria"/>
              </a:rPr>
              <a:t>Keyword stuffers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507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Lists every AI skill; the actual job is Marketing or Ops. Counting keywords ranks the fake at the 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330952" cy="1965960"/>
          </a:xfrm>
          <a:prstGeom prst="roundRect">
            <a:avLst>
              <a:gd name="adj" fmla="val 6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267712"/>
            <a:ext cx="310896" cy="310896"/>
          </a:xfrm>
          <a:prstGeom prst="ellipse">
            <a:avLst/>
          </a:prstGeom>
          <a:noFill/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94835" y="2370307"/>
            <a:ext cx="105704" cy="105704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221284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A41"/>
                </a:solidFill>
                <a:latin typeface="Cambria"/>
              </a:rPr>
              <a:t>Plain-language gems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880360"/>
            <a:ext cx="4507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7,334 people describe real retrieval / ranking work under a non-ML title. Title filters miss them entirely.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05656"/>
            <a:ext cx="5330952" cy="1965960"/>
          </a:xfrm>
          <a:prstGeom prst="roundRect">
            <a:avLst>
              <a:gd name="adj" fmla="val 6000"/>
            </a:avLst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4453128"/>
            <a:ext cx="310896" cy="310896"/>
          </a:xfrm>
          <a:prstGeom prst="ellipse">
            <a:avLst/>
          </a:prstGeom>
          <a:noFill/>
          <a:ln w="19050">
            <a:solidFill>
              <a:srgbClr val="8A6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427" y="4555723"/>
            <a:ext cx="105704" cy="105704"/>
          </a:xfrm>
          <a:prstGeom prst="ellipse">
            <a:avLst/>
          </a:prstGeom>
          <a:solidFill>
            <a:srgbClr val="8A6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398264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A41"/>
                </a:solidFill>
                <a:latin typeface="Cambria"/>
              </a:rPr>
              <a:t>Behavioural twins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65776"/>
            <a:ext cx="4507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Near-identical on paper; they differ only in engagement signals — who actually responds and shows 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105656"/>
            <a:ext cx="5330952" cy="1965960"/>
          </a:xfrm>
          <a:prstGeom prst="roundRect">
            <a:avLst>
              <a:gd name="adj" fmla="val 6000"/>
            </a:avLst>
          </a:prstGeom>
          <a:solidFill>
            <a:srgbClr val="F7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453128"/>
            <a:ext cx="310896" cy="310896"/>
          </a:xfrm>
          <a:prstGeom prst="ellipse">
            <a:avLst/>
          </a:prstGeom>
          <a:noFill/>
          <a:ln w="19050">
            <a:solidFill>
              <a:srgbClr val="B44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94835" y="4555723"/>
            <a:ext cx="105704" cy="105704"/>
          </a:xfrm>
          <a:prstGeom prst="ellipse">
            <a:avLst/>
          </a:prstGeom>
          <a:solidFill>
            <a:srgbClr val="B4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4398264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A41"/>
                </a:solidFill>
                <a:latin typeface="Cambria"/>
              </a:rPr>
              <a:t>Honeypots (~80)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5065776"/>
            <a:ext cx="4507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Impossible profiles (expert skills, 0 months' use). Rank &gt;10% of them in the top 100 and you're disqualified.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44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4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THE TRAP EVERYONE FALLS 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What most teams will submit — and why it loses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30952" cy="3063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2A41"/>
                </a:solidFill>
                <a:latin typeface="Cambria"/>
              </a:rPr>
              <a:t>The obvious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43200"/>
            <a:ext cx="466344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43200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Calibri"/>
              </a:rPr>
              <a:t>1.  </a:t>
            </a:r>
            <a:r>
              <a:rPr sz="1350" b="0" i="0">
                <a:solidFill>
                  <a:srgbClr val="1B2A41"/>
                </a:solidFill>
                <a:latin typeface="Calibri"/>
              </a:rPr>
              <a:t>Embed the job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401568"/>
            <a:ext cx="466344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01568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Calibri"/>
              </a:rPr>
              <a:t>2.  </a:t>
            </a:r>
            <a:r>
              <a:rPr sz="1350" b="0" i="0">
                <a:solidFill>
                  <a:srgbClr val="1B2A41"/>
                </a:solidFill>
                <a:latin typeface="Calibri"/>
              </a:rPr>
              <a:t>Embed all 100,000 profiles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059935"/>
            <a:ext cx="4663440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59935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Calibri"/>
              </a:rPr>
              <a:t>3.  </a:t>
            </a:r>
            <a:r>
              <a:rPr sz="1350" b="0" i="0">
                <a:solidFill>
                  <a:srgbClr val="1B2A41"/>
                </a:solidFill>
                <a:latin typeface="Calibri"/>
              </a:rPr>
              <a:t>Cosine similarity → sort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5330952" cy="3063240"/>
          </a:xfrm>
          <a:prstGeom prst="roundRect">
            <a:avLst>
              <a:gd name="adj" fmla="val 6000"/>
            </a:avLst>
          </a:prstGeom>
          <a:solidFill>
            <a:srgbClr val="F7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2A41"/>
                </a:solidFill>
                <a:latin typeface="Cambria"/>
              </a:rPr>
              <a:t>What the traps do to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Keyword-stuffers rank #1 — buzzwords beat real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46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Plain-language gems get buried below them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4903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Impossible honeypots slip into the top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1" i="0">
                <a:solidFill>
                  <a:srgbClr val="B4472E"/>
                </a:solidFill>
                <a:latin typeface="Calibri"/>
              </a:rPr>
              <a:t>→ honeypot rate breaks 10% → disqualified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1B2A41"/>
                </a:solidFill>
                <a:latin typeface="Calibri"/>
              </a:rPr>
              <a:t>The dataset was built to beat exactly this. So we don't play that game.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B2A41"/>
                </a:solidFill>
                <a:latin typeface="Cambria"/>
              </a:rPr>
              <a:t>Assay, don't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5A6472"/>
                </a:solidFill>
                <a:latin typeface="Calibri"/>
              </a:rPr>
              <a:t>Like an assayer testing gold, Parakh </a:t>
            </a:r>
            <a:r>
              <a:rPr sz="1800" b="1" i="0">
                <a:solidFill>
                  <a:srgbClr val="1B2A41"/>
                </a:solidFill>
                <a:latin typeface="Calibri"/>
              </a:rPr>
              <a:t>verifies every profile before it trusts a word of it</a:t>
            </a:r>
            <a:r>
              <a:rPr sz="1800" b="0" i="0">
                <a:solidFill>
                  <a:srgbClr val="5A6472"/>
                </a:solidFill>
                <a:latin typeface="Calibri"/>
              </a:rPr>
              <a:t> — then ranks only on evidence that survives.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53512"/>
            <a:ext cx="329184" cy="32918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0150" y="3062142"/>
            <a:ext cx="111922" cy="11192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A41"/>
                </a:solidFill>
                <a:latin typeface="Cambria"/>
              </a:rPr>
              <a:t>Read the work, not the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33756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Evidence in the career story outweighs any skills list.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953512"/>
            <a:ext cx="329184" cy="32918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6550" y="3062142"/>
            <a:ext cx="111922" cy="11192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A41"/>
                </a:solidFill>
                <a:latin typeface="Cambria"/>
              </a:rPr>
              <a:t>Reject the impossible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33756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Fakes and honeypots are removed before ranking, not after.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70832"/>
            <a:ext cx="329184" cy="32918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0150" y="4479462"/>
            <a:ext cx="111922" cy="11192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A41"/>
                </a:solidFill>
                <a:latin typeface="Cambria"/>
              </a:rPr>
              <a:t>Trust what judges agree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75488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The very top is where independent AI graders converge.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370832"/>
            <a:ext cx="329184" cy="32918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6550" y="4479462"/>
            <a:ext cx="111922" cy="11192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A41"/>
                </a:solidFill>
                <a:latin typeface="Cambria"/>
              </a:rPr>
              <a:t>Prove it, don't hope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475488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Every design choice is measured against an independent judge.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An LLM's judgment — at CPU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08792" cy="10515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0241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0894A"/>
                </a:solidFill>
                <a:latin typeface="Calibri"/>
              </a:rPr>
              <a:t>The hard rule: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the ranking step must run offline, CPU-only, no LLM calls, under 5 minutes over 100,000 profiles. An LLM call per candidate simply cannot fit — or scale in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6933"/>
                </a:solidFill>
                <a:latin typeface="Cambria"/>
              </a:rPr>
              <a:t>Think —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13632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Calibri"/>
              </a:rPr>
              <a:t>Two frontier LLMs (DeepSeek-V4, Qwen-235B) grade every plausible candidate on the job rubric. Slow, brilliant, unconstrained.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3246120"/>
            <a:ext cx="25603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0894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4612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3429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3455F"/>
                </a:solidFill>
                <a:latin typeface="Cambria"/>
              </a:rPr>
              <a:t>Bake — into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913632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Calibri"/>
              </a:rPr>
              <a:t>Its verdicts are frozen into a small cached file that ships with the code — a precomputed feature.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246120"/>
            <a:ext cx="25603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0894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24612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3429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7C66"/>
                </a:solidFill>
                <a:latin typeface="Cambria"/>
              </a:rPr>
              <a:t>Serve — in milliseconds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913632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Calibri"/>
              </a:rPr>
              <a:t>The offline ranker reads those verdicts. No LLM, no GPU, no network at run-time.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The constraint becomes the advantage: </a:t>
            </a:r>
            <a:r>
              <a:rPr sz="1500" b="0" i="0">
                <a:solidFill>
                  <a:srgbClr val="5A6472"/>
                </a:solidFill>
                <a:latin typeface="Calibri"/>
              </a:rPr>
              <a:t>frontier intelligence, distilled into a ranker that's fast, legal, and reproducible.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Two phases — all the power is offline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908792" cy="157276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8A6933"/>
                </a:solidFill>
                <a:latin typeface="Cambria"/>
              </a:rPr>
              <a:t>Pre-compute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offline · LLM + GPU allowed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3500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6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350008"/>
            <a:ext cx="206654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Sweep all 100k
+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2350008"/>
            <a:ext cx="29260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8A6933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3500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6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50008"/>
            <a:ext cx="206654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DeepSeek-V4 + Qwen-235B
grade fit 0–5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2350008"/>
            <a:ext cx="29260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8A6933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3500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6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1" y="2350008"/>
            <a:ext cx="206654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GLM-5.2
3rd judge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10908792" cy="157276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95928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E7C66"/>
                </a:solidFill>
                <a:latin typeface="Cambria"/>
              </a:rPr>
              <a:t>Ranking step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offline · CPU · no network · &lt; 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41788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3048" y="4178808"/>
            <a:ext cx="206654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Integrity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4178808"/>
            <a:ext cx="29260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E7C66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788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78808"/>
            <a:ext cx="206654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Score all
100,000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4178808"/>
            <a:ext cx="29260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E7C66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87384" y="41788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1" y="4178808"/>
            <a:ext cx="206654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Top 100
+ reasons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109087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1"/>
                </a:solidFill>
                <a:latin typeface="Calibri"/>
              </a:rPr>
              <a:t>Spec §3 compliance:  </a:t>
            </a:r>
            <a:r>
              <a:rPr sz="1400" b="0" i="0">
                <a:solidFill>
                  <a:srgbClr val="5A6472"/>
                </a:solidFill>
                <a:latin typeface="Calibri"/>
              </a:rPr>
              <a:t>no LLM, GPU or network during ranking — every model call lives in pre-compute and ships as a cached artifact the ranker reads.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LAYER 1 — THE INTEGRITY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B2A41"/>
                </a:solidFill>
                <a:latin typeface="Cambria"/>
              </a:rPr>
              <a:t>Reject the impossible and the fake —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6766560" cy="120700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1" y="2414016"/>
            <a:ext cx="310896" cy="310896"/>
          </a:xfrm>
          <a:prstGeom prst="ellipse">
            <a:avLst/>
          </a:prstGeom>
          <a:noFill/>
          <a:ln w="19050">
            <a:solidFill>
              <a:srgbClr val="B44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8707" y="2516611"/>
            <a:ext cx="105704" cy="105704"/>
          </a:xfrm>
          <a:prstGeom prst="ellipse">
            <a:avLst/>
          </a:prstGeom>
          <a:solidFill>
            <a:srgbClr val="B4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185415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2A41"/>
                </a:solidFill>
                <a:latin typeface="Cambria"/>
              </a:rPr>
              <a:t>Honeypot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24328"/>
            <a:ext cx="5806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‘Expert’ in a skill used 0 months · tenure longer than the whole career · contradictory dates. ~84 hits ≈ the ~80 planted honeypots.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6766560" cy="120700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1" y="3785615"/>
            <a:ext cx="310896" cy="310896"/>
          </a:xfrm>
          <a:prstGeom prst="ellipse">
            <a:avLst/>
          </a:prstGeom>
          <a:noFill/>
          <a:ln w="19050">
            <a:solidFill>
              <a:srgbClr val="B44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8707" y="3888211"/>
            <a:ext cx="105704" cy="105704"/>
          </a:xfrm>
          <a:prstGeom prst="ellipse">
            <a:avLst/>
          </a:prstGeom>
          <a:solidFill>
            <a:srgbClr val="B4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557015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2A41"/>
                </a:solidFill>
                <a:latin typeface="Cambria"/>
              </a:rPr>
              <a:t>Stuffer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95928"/>
            <a:ext cx="5806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Many AI skills, but the career narrative shows none of the work, and the title is wrong. Keywords without evidence don't 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965960"/>
            <a:ext cx="3913632" cy="2578608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240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FD6DE"/>
                </a:solidFill>
                <a:latin typeface="Calibri"/>
              </a:rPr>
              <a:t>VERDICT AT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974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Flagged profiles are forced to the bottom — they can never reach the top 100.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01568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B0894A"/>
                </a:solidFill>
                <a:latin typeface="Cambria"/>
              </a:rPr>
              <a:t>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FD6DE"/>
                </a:solidFill>
                <a:latin typeface="Calibri"/>
              </a:rPr>
              <a:t>honeypots in our top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WHY IT WORKS — A CONCRETE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Seeing through the disguise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30952" cy="2880360"/>
          </a:xfrm>
          <a:prstGeom prst="roundRect">
            <a:avLst>
              <a:gd name="adj" fmla="val 6000"/>
            </a:avLst>
          </a:prstGeom>
          <a:solidFill>
            <a:srgbClr val="F7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4472E"/>
                </a:solidFill>
                <a:latin typeface="Calibri"/>
              </a:rPr>
              <a:t>THE DISGUISE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Cambria"/>
              </a:rPr>
              <a:t>Marketing Manager</a:t>
            </a:r>
            <a:r>
              <a:rPr sz="1500" b="0" i="0">
                <a:solidFill>
                  <a:srgbClr val="5A6472"/>
                </a:solidFill>
                <a:latin typeface="Calibri"/>
              </a:rPr>
              <a:t> · 9 yrs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55F"/>
                </a:solidFill>
                <a:latin typeface="Calibri"/>
              </a:rPr>
              <a:t>Skills: RAG, NLP, Embeddings, Ranking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Career: brand campaigns &amp; strategy. No ML system ever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20624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44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Judge verdict:  TIER 1  —  keywords, no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330952" cy="2880360"/>
          </a:xfrm>
          <a:prstGeom prst="roundRect">
            <a:avLst>
              <a:gd name="adj" fmla="val 6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E7C66"/>
                </a:solidFill>
                <a:latin typeface="Calibri"/>
              </a:rPr>
              <a:t>THE REAL 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Cambria"/>
              </a:rPr>
              <a:t>Data Engineer</a:t>
            </a:r>
            <a:r>
              <a:rPr sz="1500" b="0" i="0">
                <a:solidFill>
                  <a:srgbClr val="5A6472"/>
                </a:solidFill>
                <a:latin typeface="Calibri"/>
              </a:rPr>
              <a:t> · 7 yrs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33455F"/>
                </a:solidFill>
                <a:latin typeface="Calibri"/>
              </a:rPr>
              <a:t>No ‘RAG’ or ‘Pinecone’ in the skills list.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Career: “built and shipped a product recommendation system at scale.”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20624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062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Judge verdict:  TIER 5  —  real work, plainly told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1B2A41"/>
                </a:solidFill>
                <a:latin typeface="Calibri"/>
              </a:rPr>
              <a:t>Keyword counting ranks the fake #1 and never finds the gem. Parakh reads the work and flips both.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LAYER 2 — THE DISTILLED 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What the teacher actually judges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30952" cy="2926080"/>
          </a:xfrm>
          <a:prstGeom prst="roundRect">
            <a:avLst>
              <a:gd name="adj" fmla="val 6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2A41"/>
                </a:solidFill>
                <a:latin typeface="Cambria"/>
              </a:rPr>
              <a:t>Must-haves it rewards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Production retrieval / ranking / recsys, shipped to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73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Embeddings + a vector DB (FAISS, Pinecone, Qdrant…)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5818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Rigorous eval — NDCG, MRR, A/B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4281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5–9 yrs at product companies; in / open to India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330952" cy="2926080"/>
          </a:xfrm>
          <a:prstGeom prst="roundRect">
            <a:avLst>
              <a:gd name="adj" fmla="val 6000"/>
            </a:avLst>
          </a:prstGeom>
          <a:solidFill>
            <a:srgbClr val="F7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2A41"/>
                </a:solidFill>
                <a:latin typeface="Cambria"/>
              </a:rPr>
              <a:t>Disqualifiers it catches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Stuffers — AI keywords with no supporting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73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Pure research / academia, no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5818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Recent LangChain-only ‘AI experience’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24281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350" b="0" i="0">
                <a:solidFill>
                  <a:srgbClr val="33455F"/>
                </a:solidFill>
                <a:latin typeface="Calibri"/>
              </a:rPr>
              <a:t>Whole career at IT-services /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Grades every plausible candidate 0–5 with a written reason — the rubric a senior recruiter carries in their 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LAYER 3 — AGREEMENT, NOT ONE OPINION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B2A41"/>
                </a:solidFill>
                <a:latin typeface="Cambria"/>
              </a:rPr>
              <a:t>Three model families — the top is where they 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mbria"/>
              </a:rPr>
              <a:t>DeepSeek + Qwen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Calibri"/>
              </a:rPr>
              <a:t>two independent teachers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A41"/>
                </a:solidFill>
                <a:latin typeface="Cambria"/>
              </a:rPr>
              <a:t>GLM-5.2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Calibri"/>
              </a:rPr>
              <a:t>3rd judge — contested 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651760"/>
            <a:ext cx="8229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0894A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566160"/>
            <a:ext cx="8229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0894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51760"/>
            <a:ext cx="3017520" cy="1874519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92608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Average the tiers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CFD6DE"/>
                </a:solidFill>
                <a:latin typeface="Calibri"/>
              </a:rPr>
              <a:t>Only candidates </a:t>
            </a:r>
            <a:r>
              <a:rPr sz="1350" b="1" i="0">
                <a:solidFill>
                  <a:srgbClr val="B0894A"/>
                </a:solidFill>
                <a:latin typeface="Calibri"/>
              </a:rPr>
              <a:t>every model family</a:t>
            </a:r>
            <a:r>
              <a:rPr sz="1350" b="0" i="0">
                <a:solidFill>
                  <a:srgbClr val="CFD6DE"/>
                </a:solidFill>
                <a:latin typeface="Calibri"/>
              </a:rPr>
              <a:t> endorses rise to the very 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51760"/>
            <a:ext cx="3319272" cy="187451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88036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1"/>
                </a:solidFill>
                <a:latin typeface="Cambria"/>
              </a:rPr>
              <a:t>Why it pays off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Calibri"/>
              </a:rPr>
              <a:t>Different model families make different mistakes. Requiring agreement cancels each one's overconfidence.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An echo of my </a:t>
            </a:r>
            <a:r>
              <a:rPr sz="1350" b="1" i="1">
                <a:solidFill>
                  <a:srgbClr val="1B2A41"/>
                </a:solidFill>
                <a:latin typeface="Calibri"/>
              </a:rPr>
              <a:t>Quorum</a:t>
            </a:r>
            <a:r>
              <a:rPr sz="1350" b="0" i="0">
                <a:solidFill>
                  <a:srgbClr val="5A6472"/>
                </a:solidFill>
                <a:latin typeface="Calibri"/>
              </a:rPr>
              <a:t> project: trust rises where independent models converge.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LAYER 4 — AVAILABILITY &amp; RED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Beyond the résumé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30952" cy="2926080"/>
          </a:xfrm>
          <a:prstGeom prst="roundRect">
            <a:avLst>
              <a:gd name="adj" fmla="val 6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A41"/>
                </a:solidFill>
                <a:latin typeface="Cambria"/>
              </a:rPr>
              <a:t>Availability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Recruiter response rate — will they reply?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73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Last active — a 6-month ghost isn't hireable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5818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Open-to-work + notice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4281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Interview completion, saved-by-recruiters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330952" cy="2926080"/>
          </a:xfrm>
          <a:prstGeom prst="roundRect">
            <a:avLst>
              <a:gd name="adj" fmla="val 6000"/>
            </a:avLst>
          </a:prstGeom>
          <a:solidFill>
            <a:srgbClr val="F7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A41"/>
                </a:solidFill>
                <a:latin typeface="Cambria"/>
              </a:rPr>
              <a:t>Red flags it down-weights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Based abroad and won't relocate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73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Long notice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5818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Title-chaser — job-hops every ~18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24281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4472E"/>
                </a:solidFill>
                <a:latin typeface="Calibri"/>
              </a:rPr>
              <a:t>·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‘Architect’ who hasn't coded in 18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A perfect-on-paper candidate who never replies isn't a hire. These signals sharpen the very 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We didn't fly blind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>
                <a:solidFill>
                  <a:srgbClr val="5A6472"/>
                </a:solidFill>
                <a:latin typeface="Calibri"/>
              </a:rPr>
              <a:t>No public leaderboard and only three submissions — so most teams guess. We built our own eval harness and judged every version with a </a:t>
            </a:r>
            <a:r>
              <a:rPr sz="1550" b="1" i="0">
                <a:solidFill>
                  <a:srgbClr val="1B2A41"/>
                </a:solidFill>
                <a:latin typeface="Calibri"/>
              </a:rPr>
              <a:t>third, independent model</a:t>
            </a:r>
            <a:r>
              <a:rPr sz="1550" b="0" i="0">
                <a:solidFill>
                  <a:srgbClr val="5A6472"/>
                </a:solidFill>
                <a:latin typeface="Calibri"/>
              </a:rPr>
              <a:t> that never touches the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3163824"/>
            <a:ext cx="292608" cy="292608"/>
          </a:xfrm>
          <a:prstGeom prst="ellipse">
            <a:avLst/>
          </a:prstGeom>
          <a:noFill/>
          <a:ln w="19050">
            <a:solidFill>
              <a:srgbClr val="8A6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3256" y="3260384"/>
            <a:ext cx="99486" cy="99486"/>
          </a:xfrm>
          <a:prstGeom prst="ellipse">
            <a:avLst/>
          </a:prstGeom>
          <a:solidFill>
            <a:srgbClr val="8A6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6933"/>
                </a:solidFill>
                <a:latin typeface="Cambria"/>
              </a:rPr>
              <a:t>DeepSeek + Qwen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7033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two teachers — 5,500 graded 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97180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0016" y="3163824"/>
            <a:ext cx="292608" cy="292608"/>
          </a:xfrm>
          <a:prstGeom prst="ellipse">
            <a:avLst/>
          </a:prstGeom>
          <a:noFill/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96576" y="3260384"/>
            <a:ext cx="99486" cy="99486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7C66"/>
                </a:solidFill>
                <a:latin typeface="Cambria"/>
              </a:rPr>
              <a:t>GLM-5.2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033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3rd judge — contested 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97180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163824"/>
            <a:ext cx="292608" cy="292608"/>
          </a:xfrm>
          <a:prstGeom prst="ellipse">
            <a:avLst/>
          </a:prstGeom>
          <a:noFill/>
          <a:ln w="19050">
            <a:solidFill>
              <a:srgbClr val="33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9896" y="3260384"/>
            <a:ext cx="99486" cy="99486"/>
          </a:xfrm>
          <a:prstGeom prst="ellipse">
            <a:avLst/>
          </a:prstGeom>
          <a:solidFill>
            <a:srgbClr val="33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3455F"/>
                </a:solidFill>
                <a:latin typeface="Cambria"/>
              </a:rPr>
              <a:t>Llama-3.3-70B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7033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independent scorer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1"/>
                </a:solidFill>
                <a:latin typeface="Calibri"/>
              </a:rPr>
              <a:t>Rule: </a:t>
            </a:r>
            <a:r>
              <a:rPr sz="1400" b="0" i="0">
                <a:solidFill>
                  <a:srgbClr val="5A6472"/>
                </a:solidFill>
                <a:latin typeface="Calibri"/>
              </a:rPr>
              <a:t>a change shipped only if the independent judge scored it higher. Nothing made the cut on faith.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B2A41"/>
                </a:solidFill>
                <a:latin typeface="Cambria"/>
              </a:rPr>
              <a:t>Every layer earned its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NDCG@10, scored by an independent third model (Llama-3.3-70B)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72891"/>
            <a:ext cx="1645920" cy="1784908"/>
          </a:xfrm>
          <a:prstGeom prst="roundRect">
            <a:avLst>
              <a:gd name="adj" fmla="val 4000"/>
            </a:avLst>
          </a:prstGeom>
          <a:solidFill>
            <a:srgbClr val="CF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69971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2A41"/>
                </a:solidFill>
                <a:latin typeface="Cambria"/>
              </a:rPr>
              <a:t>0.64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3455F"/>
                </a:solidFill>
                <a:latin typeface="Calibri"/>
              </a:rPr>
              <a:t>Rule-only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803550"/>
            <a:ext cx="1645920" cy="2454249"/>
          </a:xfrm>
          <a:prstGeom prst="roundRect">
            <a:avLst>
              <a:gd name="adj" fmla="val 4000"/>
            </a:avLst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230063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2A41"/>
                </a:solidFill>
                <a:latin typeface="Cambria"/>
              </a:rPr>
              <a:t>0.88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3455F"/>
                </a:solidFill>
                <a:latin typeface="Calibri"/>
              </a:rPr>
              <a:t>+ 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1645920" cy="2788920"/>
          </a:xfrm>
          <a:prstGeom prst="roundRect">
            <a:avLst>
              <a:gd name="adj" fmla="val 4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2A41"/>
                </a:solidFill>
                <a:latin typeface="Cambria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349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3455F"/>
                </a:solidFill>
                <a:latin typeface="Calibri"/>
              </a:rPr>
              <a:t>+ Ensemble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257800"/>
            <a:ext cx="7680960" cy="16459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0" y="214884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317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B0894A"/>
                </a:solidFill>
                <a:latin typeface="Cambria"/>
              </a:rPr>
              <a:t>10 / 10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D6DE"/>
                </a:solidFill>
                <a:latin typeface="Calibri"/>
              </a:rPr>
              <a:t>top-10 rated tier-5 by three model families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52044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7033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E7C66"/>
                </a:solidFill>
                <a:latin typeface="Cambria"/>
              </a:rPr>
              <a:t>0.98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NDCG@50 (ensemble)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Honest read: </a:t>
            </a:r>
            <a:r>
              <a:rPr sz="1250" b="0" i="1">
                <a:solidFill>
                  <a:srgbClr val="5A6472"/>
                </a:solidFill>
                <a:latin typeface="Calibri"/>
              </a:rPr>
              <a:t>three different models agree the top-10 is excellent — a strong proxy, not the organisers' hidden ground truth.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39496"/>
            <a:ext cx="237744" cy="237744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8535" y="617951"/>
            <a:ext cx="80832" cy="80832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521207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894A"/>
                </a:solidFill>
                <a:latin typeface="Calibri"/>
              </a:rPr>
              <a:t>THE 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B2A41"/>
                </a:solidFill>
                <a:latin typeface="Cambria"/>
              </a:rPr>
              <a:t>Why this is different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30952" cy="3200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A6472"/>
                </a:solidFill>
                <a:latin typeface="Cambria"/>
              </a:rPr>
              <a:t>Everyone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✕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Embed everything, cosine, sort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✕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Fooled by keyword-stuffers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✕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Buries plain-language gems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✕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Risks honeypot disqualification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✕  </a:t>
            </a:r>
            <a:r>
              <a:rPr sz="1400" b="0" i="0">
                <a:solidFill>
                  <a:srgbClr val="33455F"/>
                </a:solidFill>
                <a:latin typeface="Calibri"/>
              </a:rPr>
              <a:t>Flies blind — no way to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330952" cy="3200400"/>
          </a:xfrm>
          <a:prstGeom prst="roundRect">
            <a:avLst>
              <a:gd name="adj" fmla="val 6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A41"/>
                </a:solidFill>
                <a:latin typeface="Cambria"/>
              </a:rPr>
              <a:t>Parakh / Team 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Assays every profile before trusting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546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Distills a frontier LLM into a legal offline 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118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Two independent judges must agree at the 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0 honeypots · top-10 all tier-5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262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1B2A41"/>
                </a:solidFill>
                <a:latin typeface="Calibri"/>
              </a:rPr>
              <a:t>Proven by a third, independent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1">
                <a:solidFill>
                  <a:srgbClr val="1B2A41"/>
                </a:solidFill>
                <a:latin typeface="Calibri"/>
              </a:rPr>
              <a:t>Same rules as everyone. A fundamentally different bet: understand the candidate, don't pattern-match the keywords.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59" y="4297680"/>
            <a:ext cx="2377440" cy="2377440"/>
          </a:xfrm>
          <a:prstGeom prst="ellipse">
            <a:avLst/>
          </a:prstGeom>
          <a:noFill/>
          <a:ln w="19050">
            <a:solidFill>
              <a:srgbClr val="33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39"/>
            <a:ext cx="1463040" cy="1463040"/>
          </a:xfrm>
          <a:prstGeom prst="ellipse">
            <a:avLst/>
          </a:prstGeom>
          <a:noFill/>
          <a:ln w="19050">
            <a:solidFill>
              <a:srgbClr val="33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70448" y="1783080"/>
            <a:ext cx="457200" cy="457200"/>
          </a:xfrm>
          <a:prstGeom prst="ellipse">
            <a:avLst/>
          </a:prstGeom>
          <a:noFill/>
          <a:ln w="19050">
            <a:solidFill>
              <a:srgbClr val="B0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21324" y="1933956"/>
            <a:ext cx="155448" cy="155448"/>
          </a:xfrm>
          <a:prstGeom prst="ellipse">
            <a:avLst/>
          </a:prstGeom>
          <a:solidFill>
            <a:srgbClr val="B0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Cambria"/>
              </a:rPr>
              <a:t>Parakh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1">
                <a:solidFill>
                  <a:srgbClr val="B0894A"/>
                </a:solidFill>
                <a:latin typeface="Cambria"/>
              </a:rPr>
              <a:t>Assaying talent — genuine fits, surfaced and trusted.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4297680"/>
            <a:ext cx="4937760" cy="658368"/>
          </a:xfrm>
          <a:prstGeom prst="roundRect">
            <a:avLst>
              <a:gd name="adj" fmla="val 20000"/>
            </a:avLst>
          </a:prstGeom>
          <a:solidFill>
            <a:srgbClr val="33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429768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FD6DE"/>
                </a:solidFill>
                <a:latin typeface="Consolas"/>
              </a:rPr>
              <a:t>python rank.py --candidates candidates.jsonl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Team Evolve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FD6DE"/>
                </a:solidFill>
                <a:latin typeface="Calibri"/>
              </a:rPr>
              <a:t>Rayyan Ahmed Shaikh   ·   Inchara   ·   Harshita Nagesh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