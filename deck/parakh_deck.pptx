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45720"/>
            <a:ext cx="2651760" cy="265176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28999"/>
            <a:ext cx="1554480" cy="155448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4892040"/>
            <a:ext cx="1005840" cy="10058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051560"/>
            <a:ext cx="365760" cy="365760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6500" y="1172260"/>
            <a:ext cx="124358" cy="124358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051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FD6DE"/>
                </a:solidFill>
                <a:latin typeface="Calibri"/>
              </a:rPr>
              <a:t>THE DATA &amp; AI CHALLENGE  ·  REDROB × INDIA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00" b="1" i="0">
                <a:solidFill>
                  <a:srgbClr val="FFFFFF"/>
                </a:solidFill>
                <a:latin typeface="Cambria"/>
              </a:rPr>
              <a:t>Parakh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27248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B0894A"/>
                </a:solidFill>
                <a:latin typeface="Cambria"/>
              </a:rPr>
              <a:t>/ pə-rəkh /  —  to assay; to test whether gold is genuine.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7763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CFD6DE"/>
                </a:solidFill>
                <a:latin typeface="Calibri"/>
              </a:rPr>
              <a:t>A candidate ranker that </a:t>
            </a:r>
            <a:r>
              <a:rPr sz="2200" b="1" i="1">
                <a:solidFill>
                  <a:srgbClr val="FFFFFF"/>
                </a:solidFill>
                <a:latin typeface="Calibri"/>
              </a:rPr>
              <a:t>verifies</a:t>
            </a:r>
            <a:r>
              <a:rPr sz="2200" b="0" i="0">
                <a:solidFill>
                  <a:srgbClr val="CFD6DE"/>
                </a:solidFill>
                <a:latin typeface="Calibri"/>
              </a:rPr>
              <a:t> each profile before it trusts it —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CFD6DE"/>
                </a:solidFill>
                <a:latin typeface="Calibri"/>
              </a:rPr>
              <a:t>telling genuine engineers from convincing fakes.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486400"/>
            <a:ext cx="2926080" cy="18288"/>
          </a:xfrm>
          <a:prstGeom prst="rect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6692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 Evolve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Rayyan Ahmed Shaikh   ·   Inchara   ·   Harshita Nagesh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OUR READ OF THE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B2A41"/>
                </a:solidFill>
                <a:latin typeface="Cambria"/>
              </a:rPr>
              <a:t>We audited all 100,000 profiles before building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30952" cy="1755648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185415"/>
            <a:ext cx="292608" cy="292608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9248" y="2281976"/>
            <a:ext cx="99486" cy="99486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130552"/>
            <a:ext cx="4279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50" b="1" i="0">
                <a:solidFill>
                  <a:srgbClr val="1B2A41"/>
                </a:solidFill>
                <a:latin typeface="Cambria"/>
              </a:rPr>
              <a:t>Keyword stuffers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715768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Every AI skill listed; the actual job is Marketing or Ops. Keyword counting ranks the fake #1.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74519"/>
            <a:ext cx="5330952" cy="1755648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3096" y="2185415"/>
            <a:ext cx="292608" cy="292608"/>
          </a:xfrm>
          <a:prstGeom prst="ellipse">
            <a:avLst/>
          </a:prstGeom>
          <a:noFill/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79656" y="2281976"/>
            <a:ext cx="99486" cy="99486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3448" y="2130552"/>
            <a:ext cx="4279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50" b="1" i="0">
                <a:solidFill>
                  <a:srgbClr val="1B2A41"/>
                </a:solidFill>
                <a:latin typeface="Cambria"/>
              </a:rPr>
              <a:t>Plain-language gems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15768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7,334 people describe real retrieval / ranking work under a non-ML title. Title filters miss all of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31335"/>
            <a:ext cx="5330952" cy="1755648"/>
          </a:xfrm>
          <a:prstGeom prst="roundRect">
            <a:avLst>
              <a:gd name="adj" fmla="val 6000"/>
            </a:avLst>
          </a:prstGeom>
          <a:solidFill>
            <a:srgbClr val="F3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88" y="4142231"/>
            <a:ext cx="292608" cy="292608"/>
          </a:xfrm>
          <a:prstGeom prst="ellipse">
            <a:avLst/>
          </a:prstGeom>
          <a:noFill/>
          <a:ln w="19050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9248" y="4238792"/>
            <a:ext cx="99486" cy="99486"/>
          </a:xfrm>
          <a:prstGeom prst="ellipse">
            <a:avLst/>
          </a:prstGeom>
          <a:solidFill>
            <a:srgbClr val="8A6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4087368"/>
            <a:ext cx="4279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50" b="1" i="0">
                <a:solidFill>
                  <a:srgbClr val="1B2A41"/>
                </a:solidFill>
                <a:latin typeface="Cambria"/>
              </a:rPr>
              <a:t>Behavioural twins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672583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Near-identical on paper — separable only by engagement signals: who actually responds and shows up.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831335"/>
            <a:ext cx="5330952" cy="1755648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3096" y="4142231"/>
            <a:ext cx="292608" cy="292608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9656" y="4238792"/>
            <a:ext cx="99486" cy="99486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4087368"/>
            <a:ext cx="4279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50" b="1" i="0">
                <a:solidFill>
                  <a:srgbClr val="1B2A41"/>
                </a:solidFill>
                <a:latin typeface="Cambria"/>
              </a:rPr>
              <a:t>Honeypots — found analytically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672583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The planted impossible profiles have a signature: 'expert' skills used 0 months, tenure longer than the career. We detect them outright.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806440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806440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B0894A"/>
                </a:solidFill>
                <a:latin typeface="Calibri"/>
              </a:rPr>
              <a:t>Embed-everything-and-sort dies here: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stuffers rank #1, gems get buried, honeypots trip the 10% disqualifier — and half the score rides on the top ten. So we built something else.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B2A41"/>
                </a:solidFill>
                <a:latin typeface="Cambria"/>
              </a:rPr>
              <a:t>Assay, don't 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5A6472"/>
                </a:solidFill>
                <a:latin typeface="Calibri"/>
              </a:rPr>
              <a:t>Like an assayer testing gold, Parakh </a:t>
            </a:r>
            <a:r>
              <a:rPr sz="1800" b="1" i="0">
                <a:solidFill>
                  <a:srgbClr val="1B2A41"/>
                </a:solidFill>
                <a:latin typeface="Calibri"/>
              </a:rPr>
              <a:t>verifies every profile before it trusts a word of it</a:t>
            </a:r>
            <a:r>
              <a:rPr sz="1800" b="0" i="0">
                <a:solidFill>
                  <a:srgbClr val="5A6472"/>
                </a:solidFill>
                <a:latin typeface="Calibri"/>
              </a:rPr>
              <a:t> — then ranks only on evidence that survives.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5351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0150" y="306214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Read the work, not the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33756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Evidence in the career story outweighs any skills list.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95351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6550" y="306214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Reject the impossible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33756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Fakes and honeypots are removed before ranking, not after.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7083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0150" y="447946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297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Trust what judges agree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7548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The very top is where independent AI graders converge.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4370832"/>
            <a:ext cx="329184" cy="32918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26550" y="4479462"/>
            <a:ext cx="111922" cy="11192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297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Prove it, don't hope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7548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Every design choice is measured against an independent judge.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CORE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An LLM's judgment — at CPU speed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024128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0894A"/>
                </a:solidFill>
                <a:latin typeface="Calibri"/>
              </a:rPr>
              <a:t>The hard rule: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the ranking step must run offline, CPU-only, no LLM calls, under 5 minutes over 100,000 profiles. An LLM call per candidate simply cannot fit — or scale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8A6933"/>
                </a:solidFill>
                <a:latin typeface="Cambria"/>
              </a:rPr>
              <a:t>Think —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1363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Two frontier LLMs (DeepSeek-V4, Qwen-235B) grade every plausible candidate on the job rubric. Slow, brilliant, unconstrained.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7" y="3246120"/>
            <a:ext cx="25603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24612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33455F"/>
                </a:solidFill>
                <a:latin typeface="Cambria"/>
              </a:rPr>
              <a:t>Bake — into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91363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Its verdicts are frozen into a small cached file that ships with the code — a precomputed feature.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3246120"/>
            <a:ext cx="25603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3246120"/>
            <a:ext cx="3456432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3429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7C66"/>
                </a:solidFill>
                <a:latin typeface="Cambria"/>
              </a:rPr>
              <a:t>Serve — in milliseconds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391363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The offline ranker reads those verdicts. No LLM, no GPU, no network at run-time.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B2A41"/>
                </a:solidFill>
                <a:latin typeface="Calibri"/>
              </a:rPr>
              <a:t>The constraint becomes the advantage: </a:t>
            </a:r>
            <a:r>
              <a:rPr sz="1500" b="0" i="0">
                <a:solidFill>
                  <a:srgbClr val="5A6472"/>
                </a:solidFill>
                <a:latin typeface="Calibri"/>
              </a:rPr>
              <a:t>frontier intelligence, distilled into a ranker that's fast, legal, and reproducible.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Two phases — all the power is offline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08792" cy="157276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6933"/>
                </a:solidFill>
                <a:latin typeface="Cambria"/>
              </a:rPr>
              <a:t>Pre-compute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offline · LLM + GPU allowed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3500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3048" y="23500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Sweep all 100k
+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1032" y="23500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8A6933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3500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3500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DeepSeek-V4 + Qwen-235B
grade fit 0–5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3500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8A6933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7384" y="23500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7111" y="23500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GLM-5.2
3rd judge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94760"/>
            <a:ext cx="10908792" cy="157276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95928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E7C66"/>
                </a:solidFill>
                <a:latin typeface="Cambria"/>
              </a:rPr>
              <a:t>Ranking step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offline · CPU · no network · &lt; 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4178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41788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Integrity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2" y="41788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0E7C66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4178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Score all
100,000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4178808"/>
            <a:ext cx="2926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0E7C66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87384" y="4178808"/>
            <a:ext cx="22860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97111" y="4178808"/>
            <a:ext cx="206654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Top 100
+ reasons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23560"/>
            <a:ext cx="109087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libri"/>
              </a:rPr>
              <a:t>Spec §3 compliance: 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no LLM, GPU or network during ranking — every model call lives in pre-compute and ships as a cached artifact the ranker 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1 — THE INTEGRITY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B2A41"/>
                </a:solidFill>
                <a:latin typeface="Cambria"/>
              </a:rPr>
              <a:t>Reject the impossible and the fake —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6766560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1" y="2414016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707" y="2516611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185415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Honeypot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24328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‘Expert’ in a skill used 0 months · tenure longer than the whole career · contradictory dates. ~84 hits ≈ the ~80 planted honeypots.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6766560" cy="1207008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1" y="3785615"/>
            <a:ext cx="310896" cy="310896"/>
          </a:xfrm>
          <a:prstGeom prst="ellipse">
            <a:avLst/>
          </a:prstGeom>
          <a:noFill/>
          <a:ln w="19050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8707" y="3888211"/>
            <a:ext cx="105704" cy="105704"/>
          </a:xfrm>
          <a:prstGeom prst="ellipse">
            <a:avLst/>
          </a:prstGeom>
          <a:solidFill>
            <a:srgbClr val="B44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557015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Stuffer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95928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Many AI skills, but the career narrative shows none of the work, and the title is wrong. Keywords without evidence don't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1965960"/>
            <a:ext cx="3913632" cy="2578608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2402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FD6DE"/>
                </a:solidFill>
                <a:latin typeface="Calibri"/>
              </a:rPr>
              <a:t>VERDICT AT RUNTIME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974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Flagged profiles are forced to the bottom — they can never reach the top 100.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40156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B0894A"/>
                </a:solidFill>
                <a:latin typeface="Cambria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honeypots in our top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WHY IT WORKS — A CONCRETE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Seeing through the disguise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88036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472E"/>
                </a:solidFill>
                <a:latin typeface="Calibri"/>
              </a:rPr>
              <a:t>THE DISGUISE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B2A41"/>
                </a:solidFill>
                <a:latin typeface="Cambria"/>
              </a:rPr>
              <a:t>Marketing Manager</a:t>
            </a:r>
            <a:r>
              <a:rPr sz="1500" b="0" i="0">
                <a:solidFill>
                  <a:srgbClr val="5A6472"/>
                </a:solidFill>
                <a:latin typeface="Calibri"/>
              </a:rPr>
              <a:t> · 9 yrs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33455F"/>
                </a:solidFill>
                <a:latin typeface="Calibri"/>
              </a:rPr>
              <a:t>Skills: RAG, NLP, Embeddings, Ranking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Career: brand campaigns &amp; strategy. No ML system ever built.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20624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B44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Judge verdict:  TIER 1  —  keywords, no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65960"/>
            <a:ext cx="5330952" cy="288036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94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E7C66"/>
                </a:solidFill>
                <a:latin typeface="Calibri"/>
              </a:rPr>
              <a:t>THE REAL 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5603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B2A41"/>
                </a:solidFill>
                <a:latin typeface="Cambria"/>
              </a:rPr>
              <a:t>Data Engineer</a:t>
            </a:r>
            <a:r>
              <a:rPr sz="1500" b="0" i="0">
                <a:solidFill>
                  <a:srgbClr val="5A6472"/>
                </a:solidFill>
                <a:latin typeface="Calibri"/>
              </a:rPr>
              <a:t> · 7 yrs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 i="0">
                <a:solidFill>
                  <a:srgbClr val="33455F"/>
                </a:solidFill>
                <a:latin typeface="Calibri"/>
              </a:rPr>
              <a:t>No ‘RAG’ or ‘Pinecone’ in the skills list.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Career: “built and shipped a product recommendation system at scale.”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20624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Judge verdict:  TIER 5  —  real work, plainly told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1">
                <a:solidFill>
                  <a:srgbClr val="1B2A41"/>
                </a:solidFill>
                <a:latin typeface="Calibri"/>
              </a:rPr>
              <a:t>Keyword counting ranks the fake #1 and never finds the gem. Parakh reads the work and flips both.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2 — THE DISTILLED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What the teacher actually judges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Must-haves it rewards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Production retrieval / ranking / recsys, shipped to 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Embeddings + a vector DB (FAISS, Pinecone, Qdrant…)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Rigorous eval — NDCG, MRR, A/B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5–9 yrs at product companies; in / open to India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B2A41"/>
                </a:solidFill>
                <a:latin typeface="Cambria"/>
              </a:rPr>
              <a:t>Disqualifiers it catches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Stuffers — AI keywords with no supporting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Pure research / academia, no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Recent LangChain-only ‘AI experience’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350" b="0" i="0">
                <a:solidFill>
                  <a:srgbClr val="33455F"/>
                </a:solidFill>
                <a:latin typeface="Calibri"/>
              </a:rPr>
              <a:t>Whole career at IT-services /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Grades every plausible candidate 0–5 with a written reason — the rubric a senior recruiter carries in their head.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3 — AGREEMENT, NOT ONE OPINION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B2A41"/>
                </a:solidFill>
                <a:latin typeface="Cambria"/>
              </a:rPr>
              <a:t>Three model families — the top is where they agree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F3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B2A41"/>
                </a:solidFill>
                <a:latin typeface="Cambria"/>
              </a:rPr>
              <a:t>DeepSeek + Qwen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two independent teachers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332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GLM-5.2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3rd judge — contested 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651760"/>
            <a:ext cx="82296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566160"/>
            <a:ext cx="82296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0894A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3017520" cy="1874519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92608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Average the tiers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CFD6DE"/>
                </a:solidFill>
                <a:latin typeface="Calibri"/>
              </a:rPr>
              <a:t>Only candidates </a:t>
            </a:r>
            <a:r>
              <a:rPr sz="1350" b="1" i="0">
                <a:solidFill>
                  <a:srgbClr val="B0894A"/>
                </a:solidFill>
                <a:latin typeface="Calibri"/>
              </a:rPr>
              <a:t>every model family</a:t>
            </a:r>
            <a:r>
              <a:rPr sz="1350" b="0" i="0">
                <a:solidFill>
                  <a:srgbClr val="CFD6DE"/>
                </a:solidFill>
                <a:latin typeface="Calibri"/>
              </a:rPr>
              <a:t> endorses rise to the very 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651760"/>
            <a:ext cx="3319272" cy="187451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880360"/>
            <a:ext cx="2834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mbria"/>
              </a:rPr>
              <a:t>Why it pays off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Different model families make different mistakes. Requiring agreement cancels each one's overconfidence.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An echo of my </a:t>
            </a:r>
            <a:r>
              <a:rPr sz="1350" b="1" i="1">
                <a:solidFill>
                  <a:srgbClr val="1B2A41"/>
                </a:solidFill>
                <a:latin typeface="Calibri"/>
              </a:rPr>
              <a:t>Quorum</a:t>
            </a:r>
            <a:r>
              <a:rPr sz="1350" b="0" i="0">
                <a:solidFill>
                  <a:srgbClr val="5A6472"/>
                </a:solidFill>
                <a:latin typeface="Calibri"/>
              </a:rPr>
              <a:t> project: trust rises where independent models converge.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LAYER 4 — AVAILABILITY &amp; RED FLAGS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Beyond the résumé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Availability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Recruiter response rate — will they reply?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Last active — a 6-month ghost isn't hireable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Open-to-work + notice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7C66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Interview completion, saved-by-recruiters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30952" cy="2926080"/>
          </a:xfrm>
          <a:prstGeom prst="roundRect">
            <a:avLst>
              <a:gd name="adj" fmla="val 6000"/>
            </a:avLst>
          </a:prstGeom>
          <a:solidFill>
            <a:srgbClr val="F7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B2A41"/>
                </a:solidFill>
                <a:latin typeface="Cambria"/>
              </a:rPr>
              <a:t>Red flags it down-weights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Based abroad and won't relocate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735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Long notice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758183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Title-chaser — job-hops every ~18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24281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B4472E"/>
                </a:solidFill>
                <a:latin typeface="Calibri"/>
              </a:rPr>
              <a:t>·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‘Architect’ who hasn't coded in 18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A perfect-on-paper candidate who never replies isn't a hire. These signals sharpen the very top.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We didn't fly blind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>
                <a:solidFill>
                  <a:srgbClr val="5A6472"/>
                </a:solidFill>
                <a:latin typeface="Calibri"/>
              </a:rPr>
              <a:t>No public leaderboard and only three submissions — so most teams guess. We built our own eval harness and judged every version with a </a:t>
            </a:r>
            <a:r>
              <a:rPr sz="1550" b="1" i="0">
                <a:solidFill>
                  <a:srgbClr val="1B2A41"/>
                </a:solidFill>
                <a:latin typeface="Calibri"/>
              </a:rPr>
              <a:t>third, independent model</a:t>
            </a:r>
            <a:r>
              <a:rPr sz="1550" b="0" i="0">
                <a:solidFill>
                  <a:srgbClr val="5A6472"/>
                </a:solidFill>
                <a:latin typeface="Calibri"/>
              </a:rPr>
              <a:t> that never touches the ranking.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163824"/>
            <a:ext cx="292608" cy="292608"/>
          </a:xfrm>
          <a:prstGeom prst="ellipse">
            <a:avLst/>
          </a:prstGeom>
          <a:noFill/>
          <a:ln w="19050">
            <a:solidFill>
              <a:srgbClr val="8A6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3256" y="3260384"/>
            <a:ext cx="99486" cy="99486"/>
          </a:xfrm>
          <a:prstGeom prst="ellipse">
            <a:avLst/>
          </a:prstGeom>
          <a:solidFill>
            <a:srgbClr val="8A6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8A6933"/>
                </a:solidFill>
                <a:latin typeface="Cambria"/>
              </a:rPr>
              <a:t>DeepSeek + Qwen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37033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two teachers — 5,500 graded each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97180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0016" y="3163824"/>
            <a:ext cx="292608" cy="292608"/>
          </a:xfrm>
          <a:prstGeom prst="ellipse">
            <a:avLst/>
          </a:prstGeom>
          <a:noFill/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96576" y="3260384"/>
            <a:ext cx="99486" cy="99486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7C66"/>
                </a:solidFill>
                <a:latin typeface="Cambria"/>
              </a:rPr>
              <a:t>GLM-5.2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033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3rd judge — contested top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97180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163824"/>
            <a:ext cx="292608" cy="292608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99896" y="3260384"/>
            <a:ext cx="99486" cy="99486"/>
          </a:xfrm>
          <a:prstGeom prst="ellipse">
            <a:avLst/>
          </a:prstGeom>
          <a:solidFill>
            <a:srgbClr val="33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19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33455F"/>
                </a:solidFill>
                <a:latin typeface="Cambria"/>
              </a:rPr>
              <a:t>Llama-3.3-70B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37033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472"/>
                </a:solidFill>
                <a:latin typeface="Calibri"/>
              </a:rPr>
              <a:t>independent scorer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A41"/>
                </a:solidFill>
                <a:latin typeface="Calibri"/>
              </a:rPr>
              <a:t>Rule: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a change shipped only if the independent judge scored it higher. Nothing made the cut on faith.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B2A41"/>
                </a:solidFill>
                <a:latin typeface="Cambria"/>
              </a:rPr>
              <a:t>Every layer earned its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A6472"/>
                </a:solidFill>
                <a:latin typeface="Calibri"/>
              </a:rPr>
              <a:t>NDCG@10, scored by an independent third model (Llama-3.3-70B)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72891"/>
            <a:ext cx="1645920" cy="1784908"/>
          </a:xfrm>
          <a:prstGeom prst="roundRect">
            <a:avLst>
              <a:gd name="adj" fmla="val 4000"/>
            </a:avLst>
          </a:prstGeom>
          <a:solidFill>
            <a:srgbClr val="CF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6997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0.64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Rule-only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803550"/>
            <a:ext cx="1645920" cy="2454249"/>
          </a:xfrm>
          <a:prstGeom prst="roundRect">
            <a:avLst>
              <a:gd name="adj" fmla="val 4000"/>
            </a:avLst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39" y="230063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0.88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+ Teacher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1645920" cy="2788920"/>
          </a:xfrm>
          <a:prstGeom prst="roundRect">
            <a:avLst>
              <a:gd name="adj" fmla="val 4000"/>
            </a:avLst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9659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B2A41"/>
                </a:solidFill>
                <a:latin typeface="Cambria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349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3455F"/>
                </a:solidFill>
                <a:latin typeface="Calibri"/>
              </a:rPr>
              <a:t>+ Ensemble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257800"/>
            <a:ext cx="7680960" cy="16459"/>
          </a:xfrm>
          <a:prstGeom prst="rect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214884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3317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B0894A"/>
                </a:solidFill>
                <a:latin typeface="Cambria"/>
              </a:rPr>
              <a:t>10 / 10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FD6DE"/>
                </a:solidFill>
                <a:latin typeface="Calibri"/>
              </a:rPr>
              <a:t>top-10 rated tier-5 by three model families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352044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37033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E7C66"/>
                </a:solidFill>
                <a:latin typeface="Cambria"/>
              </a:rPr>
              <a:t>0.98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NDCG@50 (ensemble)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1"/>
                </a:solidFill>
                <a:latin typeface="Calibri"/>
              </a:rPr>
              <a:t>Honest read: </a:t>
            </a:r>
            <a:r>
              <a:rPr sz="1250" b="0" i="1">
                <a:solidFill>
                  <a:srgbClr val="5A6472"/>
                </a:solidFill>
                <a:latin typeface="Calibri"/>
              </a:rPr>
              <a:t>three different models agree the top-10 is excellent — a strong proxy, not the organisers' hidden ground truth.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39496"/>
            <a:ext cx="237744" cy="237744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8535" y="617951"/>
            <a:ext cx="80832" cy="80832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521207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0894A"/>
                </a:solidFill>
                <a:latin typeface="Calibri"/>
              </a:rPr>
              <a:t>THE BOTTOM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1B2A41"/>
                </a:solidFill>
                <a:latin typeface="Cambria"/>
              </a:rPr>
              <a:t>Why this is different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30952" cy="3200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5A6472"/>
                </a:solidFill>
                <a:latin typeface="Cambria"/>
              </a:rPr>
              <a:t>Everyone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Embed everything, cosine, sort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Fooled by keyword-stuffers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Buries plain-language gems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Risks honeypot disqualification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✕  </a:t>
            </a:r>
            <a:r>
              <a:rPr sz="1400" b="0" i="0">
                <a:solidFill>
                  <a:srgbClr val="33455F"/>
                </a:solidFill>
                <a:latin typeface="Calibri"/>
              </a:rPr>
              <a:t>Flies blind — no way to measure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5330952" cy="3200400"/>
          </a:xfrm>
          <a:prstGeom prst="roundRect">
            <a:avLst>
              <a:gd name="adj" fmla="val 6000"/>
            </a:avLst>
          </a:prstGeom>
          <a:solidFill>
            <a:srgbClr val="E4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A41"/>
                </a:solidFill>
                <a:latin typeface="Cambria"/>
              </a:rPr>
              <a:t>Parakh / Team Evolve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974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Assays every profile before trusting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546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Distills a frontier LLM into a legal offline ranker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6118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Two independent judges must agree at the 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690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0 honeypots · top-10 all tier-5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52628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7C66"/>
                </a:solidFill>
                <a:latin typeface="Calibri"/>
              </a:rPr>
              <a:t>✓  </a:t>
            </a:r>
            <a:r>
              <a:rPr sz="1400" b="0" i="0">
                <a:solidFill>
                  <a:srgbClr val="1B2A41"/>
                </a:solidFill>
                <a:latin typeface="Calibri"/>
              </a:rPr>
              <a:t>Proven by a third, independent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1">
                <a:solidFill>
                  <a:srgbClr val="1B2A41"/>
                </a:solidFill>
                <a:latin typeface="Calibri"/>
              </a:rPr>
              <a:t>Same rules as everyone. A fundamentally different bet: understand the candidate, don't pattern-match the keywords.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59" y="4297680"/>
            <a:ext cx="2377440" cy="23774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548639"/>
            <a:ext cx="1463040" cy="1463040"/>
          </a:xfrm>
          <a:prstGeom prst="ellipse">
            <a:avLst/>
          </a:prstGeom>
          <a:noFill/>
          <a:ln w="19050">
            <a:solidFill>
              <a:srgbClr val="33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70448" y="1783080"/>
            <a:ext cx="457200" cy="457200"/>
          </a:xfrm>
          <a:prstGeom prst="ellipse">
            <a:avLst/>
          </a:prstGeom>
          <a:noFill/>
          <a:ln w="19050">
            <a:solidFill>
              <a:srgbClr val="B08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21324" y="1933956"/>
            <a:ext cx="155448" cy="155448"/>
          </a:xfrm>
          <a:prstGeom prst="ellipse">
            <a:avLst/>
          </a:prstGeom>
          <a:solidFill>
            <a:srgbClr val="B08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Cambria"/>
              </a:rPr>
              <a:t>Parakh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4290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1">
                <a:solidFill>
                  <a:srgbClr val="B0894A"/>
                </a:solidFill>
                <a:latin typeface="Cambria"/>
              </a:rPr>
              <a:t>Assaying talent — genuine fits, surfaced and trusted.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4297680"/>
            <a:ext cx="4937760" cy="658368"/>
          </a:xfrm>
          <a:prstGeom prst="roundRect">
            <a:avLst>
              <a:gd name="adj" fmla="val 20000"/>
            </a:avLst>
          </a:prstGeom>
          <a:solidFill>
            <a:srgbClr val="33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429768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CFD6DE"/>
                </a:solidFill>
                <a:latin typeface="Consolas"/>
              </a:rPr>
              <a:t>python rank.py --candidates candidates.jsonl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Team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CFD6DE"/>
                </a:solidFill>
                <a:latin typeface="Calibri"/>
              </a:rPr>
              <a:t>Rayyan Ahmed Shaikh   ·   Inchara   ·   Harshita Nagesh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