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45720"/>
            <a:ext cx="2651760" cy="265176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28999"/>
            <a:ext cx="1554480" cy="155448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4892040"/>
            <a:ext cx="1005840" cy="100584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051560"/>
            <a:ext cx="365760" cy="365760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6500" y="1172260"/>
            <a:ext cx="124358" cy="124358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0515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FD6DE"/>
                </a:solidFill>
                <a:latin typeface="Calibri"/>
              </a:rPr>
              <a:t>THE DATA &amp; AI CHALLENGE  ·  REDROB × INDIA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8686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0" b="1" i="0">
                <a:solidFill>
                  <a:srgbClr val="FFFFFF"/>
                </a:solidFill>
                <a:latin typeface="Cambria"/>
              </a:rPr>
              <a:t>Parakh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B0894A"/>
                </a:solidFill>
                <a:latin typeface="Cambria"/>
              </a:rPr>
              <a:t>/ pə-rəkh /  —  to assay; to test whether gold is genuine.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CFD6DE"/>
                </a:solidFill>
                <a:latin typeface="Calibri"/>
              </a:rPr>
              <a:t>A candidate ranker that </a:t>
            </a:r>
            <a:r>
              <a:rPr sz="2200" b="1" i="1">
                <a:solidFill>
                  <a:srgbClr val="FFFFFF"/>
                </a:solidFill>
                <a:latin typeface="Calibri"/>
              </a:rPr>
              <a:t>verifies</a:t>
            </a:r>
            <a:r>
              <a:rPr sz="2200" b="0" i="0">
                <a:solidFill>
                  <a:srgbClr val="CFD6DE"/>
                </a:solidFill>
                <a:latin typeface="Calibri"/>
              </a:rPr>
              <a:t> each profile before it trusts it —</a:t>
            </a:r>
          </a:p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CFD6DE"/>
                </a:solidFill>
                <a:latin typeface="Calibri"/>
              </a:rPr>
              <a:t>telling genuine engineers from convincing fakes.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5623560"/>
            <a:ext cx="2926080" cy="18288"/>
          </a:xfrm>
          <a:prstGeom prst="rect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521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Rayyan Ahmed Shaikh</a:t>
            </a:r>
            <a:r>
              <a:rPr sz="1500" b="0" i="0">
                <a:solidFill>
                  <a:srgbClr val="CFD6DE"/>
                </a:solidFill>
                <a:latin typeface="Calibri"/>
              </a:rPr>
              <a:t>     ·     Team Parakh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B2A41"/>
                </a:solidFill>
                <a:latin typeface="Cambria"/>
              </a:rPr>
              <a:t>Great candidates are missed —</a:t>
            </a:r>
          </a:p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B2A41"/>
                </a:solidFill>
                <a:latin typeface="Cambria"/>
              </a:rPr>
              <a:t>not absent, just unseen.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126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 i="0">
                <a:solidFill>
                  <a:srgbClr val="5A6472"/>
                </a:solidFill>
                <a:latin typeface="Calibri"/>
              </a:rPr>
              <a:t>Recruiters scan hundreds of profiles and still miss the right person — because </a:t>
            </a:r>
            <a:r>
              <a:rPr sz="1600" b="1" i="0">
                <a:solidFill>
                  <a:srgbClr val="1B2A41"/>
                </a:solidFill>
                <a:latin typeface="Calibri"/>
              </a:rPr>
              <a:t>keyword filters can't see fit.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 i="0">
                <a:solidFill>
                  <a:srgbClr val="5A6472"/>
                </a:solidFill>
                <a:latin typeface="Calibri"/>
              </a:rPr>
              <a:t>They reward whoever lists the most buzzwords, and overlook the engineer who </a:t>
            </a:r>
            <a:r>
              <a:rPr sz="1600" b="1" i="0">
                <a:solidFill>
                  <a:srgbClr val="1B2A41"/>
                </a:solidFill>
                <a:latin typeface="Calibri"/>
              </a:rPr>
              <a:t>built the exact system</a:t>
            </a:r>
            <a:r>
              <a:rPr sz="1600" b="0" i="0">
                <a:solidFill>
                  <a:srgbClr val="5A6472"/>
                </a:solidFill>
                <a:latin typeface="Calibri"/>
              </a:rPr>
              <a:t> but described it in plain words.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5A6472"/>
                </a:solidFill>
                <a:latin typeface="Calibri"/>
              </a:rPr>
              <a:t>In a pool of 100,000, the real fits are a needle in a haystack — and half the score rides on the top ten.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051560"/>
            <a:ext cx="406908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234439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1B2A41"/>
                </a:solidFill>
                <a:latin typeface="Cambria"/>
              </a:rPr>
              <a:t>100,000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profiles in the 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2624328"/>
            <a:ext cx="406908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80720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8A6933"/>
                </a:solidFill>
                <a:latin typeface="Cambria"/>
              </a:rPr>
              <a:t>~few hundred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353872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genuinely fit the role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197096"/>
            <a:ext cx="406908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379976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0E7C66"/>
                </a:solidFill>
                <a:latin typeface="Cambria"/>
              </a:rPr>
              <a:t>Top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0688" y="511149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carry 50% of the score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WHY NAÏVE MATCHING LOSES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The dataset is engineered to punish keyword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30952" cy="196596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267712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4427" y="2370307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212848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Keyword stuffers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45079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Lists every AI skill; the actual job is Marketing or Ops. Counting keywords ranks the fake at the top.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920240"/>
            <a:ext cx="5330952" cy="196596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267712"/>
            <a:ext cx="310896" cy="310896"/>
          </a:xfrm>
          <a:prstGeom prst="ellipse">
            <a:avLst/>
          </a:prstGeom>
          <a:noFill/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94835" y="2370307"/>
            <a:ext cx="105704" cy="105704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2212848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Plain-language gems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880360"/>
            <a:ext cx="45079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7,334 people describe real retrieval / ranking work under a non-ML title. Title filters miss them entirely.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05656"/>
            <a:ext cx="5330952" cy="1965960"/>
          </a:xfrm>
          <a:prstGeom prst="roundRect">
            <a:avLst>
              <a:gd name="adj" fmla="val 6000"/>
            </a:avLst>
          </a:prstGeom>
          <a:solidFill>
            <a:srgbClr val="F3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453128"/>
            <a:ext cx="310896" cy="310896"/>
          </a:xfrm>
          <a:prstGeom prst="ellipse">
            <a:avLst/>
          </a:prstGeom>
          <a:noFill/>
          <a:ln w="19050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4427" y="4555723"/>
            <a:ext cx="105704" cy="105704"/>
          </a:xfrm>
          <a:prstGeom prst="ellipse">
            <a:avLst/>
          </a:prstGeom>
          <a:solidFill>
            <a:srgbClr val="8A6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4398264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Behavioural twins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065776"/>
            <a:ext cx="45079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Near-identical on paper; they differ only in engagement signals — who actually responds and shows up.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4105656"/>
            <a:ext cx="5330952" cy="196596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92240" y="4453128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94835" y="4555723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398264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Honeypots (~80)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7688" y="5065776"/>
            <a:ext cx="45079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Impossible profiles (expert skills, 0 months' use). Rank &gt;10% of them in the top 100 and you're disqualified.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THE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B2A41"/>
                </a:solidFill>
                <a:latin typeface="Cambria"/>
              </a:rPr>
              <a:t>Assay, don't 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A6472"/>
                </a:solidFill>
                <a:latin typeface="Calibri"/>
              </a:rPr>
              <a:t>Do all the heavy AI thinking offline; bake it into artifacts a fast, offline ranker reads.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10908792" cy="157276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32888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A6933"/>
                </a:solidFill>
                <a:latin typeface="Cambria"/>
              </a:rPr>
              <a:t>Pre-compute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offline · LLM + GPU allowed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715768"/>
            <a:ext cx="2286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31335" y="2715768"/>
            <a:ext cx="2029967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1"/>
                </a:solidFill>
                <a:latin typeface="Calibri"/>
              </a:rPr>
              <a:t>Embed +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2" y="271576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8A6933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715768"/>
            <a:ext cx="2286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2715768"/>
            <a:ext cx="2029967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1"/>
                </a:solidFill>
                <a:latin typeface="Calibri"/>
              </a:rPr>
              <a:t>Qwen-235B teacher
grades fit 0–5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13064" y="271576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8A6933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87384" y="2715768"/>
            <a:ext cx="2286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5400" y="2715768"/>
            <a:ext cx="2029967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1"/>
                </a:solidFill>
                <a:latin typeface="Calibri"/>
              </a:rPr>
              <a:t>DeepSeek
2nd judge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14800"/>
            <a:ext cx="10908792" cy="157276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15968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E7C66"/>
                </a:solidFill>
                <a:latin typeface="Cambria"/>
              </a:rPr>
              <a:t>Ranking step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offline · CPU · no network · &lt; 5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03320" y="4498848"/>
            <a:ext cx="2286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31335" y="4498848"/>
            <a:ext cx="2029967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1"/>
                </a:solidFill>
                <a:latin typeface="Calibri"/>
              </a:rPr>
              <a:t>Integrity 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71032" y="449884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E7C66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4498848"/>
            <a:ext cx="2286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4498848"/>
            <a:ext cx="2029967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1"/>
                </a:solidFill>
                <a:latin typeface="Calibri"/>
              </a:rPr>
              <a:t>Score all
100,000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49884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E7C66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7384" y="4498848"/>
            <a:ext cx="2286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4498848"/>
            <a:ext cx="2029967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1"/>
                </a:solidFill>
                <a:latin typeface="Calibri"/>
              </a:rPr>
              <a:t>Top 100
+ reasons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A41"/>
                </a:solidFill>
                <a:latin typeface="Calibri"/>
              </a:rPr>
              <a:t>Spec §3 compliance:  </a:t>
            </a:r>
            <a:r>
              <a:rPr sz="1400" b="0" i="0">
                <a:solidFill>
                  <a:srgbClr val="5A6472"/>
                </a:solidFill>
                <a:latin typeface="Calibri"/>
              </a:rPr>
              <a:t>no LLM, GPU or network during ranking — every model call lives in pre-compute and ships as a cached artifact.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1 — THE INTEGRITY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B2A41"/>
                </a:solidFill>
                <a:latin typeface="Cambria"/>
              </a:rPr>
              <a:t>Reject the impossible and the fake —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6766560" cy="120700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1" y="2414016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8707" y="2516611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185415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Honeypot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24328"/>
            <a:ext cx="5806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‘Expert’ in a skill used 0 months · tenure longer than the whole career · contradictory dates. ~84 hits ≈ the ~80 planted honeypots.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37560"/>
            <a:ext cx="6766560" cy="120700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1" y="3785615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8707" y="3888211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557015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Stuffer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95928"/>
            <a:ext cx="5806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Many AI skills, but the career narrative shows none of the work, and the title is wrong. Keywords without evidence don't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1965960"/>
            <a:ext cx="3913632" cy="2578608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22402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FD6DE"/>
                </a:solidFill>
                <a:latin typeface="Calibri"/>
              </a:rPr>
              <a:t>VERDICT AT RUNTIME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69748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Flagged profiles are forced to the bottom — they can never reach the top 100.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40156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B0894A"/>
                </a:solidFill>
                <a:latin typeface="Cambria"/>
              </a:rPr>
              <a:t>0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50" b="0" i="0">
                <a:solidFill>
                  <a:srgbClr val="CFD6DE"/>
                </a:solidFill>
                <a:latin typeface="Calibri"/>
              </a:rPr>
              <a:t>honeypots in our top 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2 — THE DISTILLED 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B2A41"/>
                </a:solidFill>
                <a:latin typeface="Cambria"/>
              </a:rPr>
              <a:t>A senior recruiter's judgment — that runs offline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456432" cy="265176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2860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8A6933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9718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Grade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347472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Qwen3-235B scores the 3,000 most plausible candidates on the JD rubric — fit tier 0–5 with a written reason.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11680"/>
            <a:ext cx="3456432" cy="265176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33455F"/>
                </a:solidFill>
                <a:latin typeface="Cambr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Bake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47472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Those labels are saved as a cached artifact in the repo — a precomputed feature, not a live call.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2011680"/>
            <a:ext cx="3456432" cy="265176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22860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E7C66"/>
                </a:solidFill>
                <a:latin typeface="Cambr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29718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Read at runtime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347472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The offline ranker reads the labels; no LLM, GPU or network is touched while ranking.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A41"/>
                </a:solidFill>
                <a:latin typeface="Calibri"/>
              </a:rPr>
              <a:t>Why it matters:  </a:t>
            </a:r>
            <a:r>
              <a:rPr sz="1400" b="0" i="0">
                <a:solidFill>
                  <a:srgbClr val="5A6472"/>
                </a:solidFill>
                <a:latin typeface="Calibri"/>
              </a:rPr>
              <a:t>an LLM call per candidate can't scale or meet the 5-minute CPU budget. Distillation keeps the intelligence, drops the cost.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3 — AGREEMENT, NOT ONE OPINION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B2A41"/>
                </a:solidFill>
                <a:latin typeface="Cambria"/>
              </a:rPr>
              <a:t>Two independent judges — the top is where they agree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F3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Qwen-235B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primary teacher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332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DeepSeek-V4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second judge (harsher)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651760"/>
            <a:ext cx="82296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B0894A"/>
                </a:solidFill>
                <a:latin typeface="Calibri"/>
              </a:rPr>
              <a:t>→</a:t>
            </a:r>
          </a:p>
          <a:p>
            <a:pPr algn="ctr">
              <a:spcBef>
                <a:spcPts val="3000"/>
              </a:spcBef>
              <a:spcAft>
                <a:spcPts val="0"/>
              </a:spcAft>
            </a:pPr>
            <a:r>
              <a:rPr sz="3000" b="1" i="0">
                <a:solidFill>
                  <a:srgbClr val="B0894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2651760"/>
            <a:ext cx="3017520" cy="1874519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92608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Average the tiers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CFD6DE"/>
                </a:solidFill>
                <a:latin typeface="Calibri"/>
              </a:rPr>
              <a:t>Only candidates </a:t>
            </a:r>
            <a:r>
              <a:rPr sz="1350" b="1" i="0">
                <a:solidFill>
                  <a:srgbClr val="B0894A"/>
                </a:solidFill>
                <a:latin typeface="Calibri"/>
              </a:rPr>
              <a:t>both</a:t>
            </a:r>
            <a:r>
              <a:rPr sz="1350" b="0" i="0">
                <a:solidFill>
                  <a:srgbClr val="CFD6DE"/>
                </a:solidFill>
                <a:latin typeface="Calibri"/>
              </a:rPr>
              <a:t> rate tier-5 rise to the very 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651760"/>
            <a:ext cx="3319272" cy="187451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880360"/>
            <a:ext cx="2834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A41"/>
                </a:solidFill>
                <a:latin typeface="Cambria"/>
              </a:rPr>
              <a:t>The check that pays off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DeepSeek rated only </a:t>
            </a:r>
            <a:r>
              <a:rPr sz="1300" b="1" i="0">
                <a:solidFill>
                  <a:srgbClr val="1B2A41"/>
                </a:solidFill>
                <a:latin typeface="Calibri"/>
              </a:rPr>
              <a:t>40 of our 100</a:t>
            </a:r>
            <a:r>
              <a:rPr sz="1300" b="0" i="0">
                <a:solidFill>
                  <a:srgbClr val="5A6472"/>
                </a:solidFill>
                <a:latin typeface="Calibri"/>
              </a:rPr>
              <a:t> as tier-5. Requiring agreement filters out one model's overconfidence.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An echo of my </a:t>
            </a:r>
            <a:r>
              <a:rPr sz="1350" b="1" i="1">
                <a:solidFill>
                  <a:srgbClr val="1B2A41"/>
                </a:solidFill>
                <a:latin typeface="Calibri"/>
              </a:rPr>
              <a:t>Quorum</a:t>
            </a:r>
            <a:r>
              <a:rPr sz="1350" b="0" i="0">
                <a:solidFill>
                  <a:srgbClr val="5A6472"/>
                </a:solidFill>
                <a:latin typeface="Calibri"/>
              </a:rPr>
              <a:t> project: five models debating — trust rises where independent judges converge.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4 — AVAILABILITY &amp; RED FLAGS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Beyond the résumé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Availability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Recruiter response rate — will they reply?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Last active — a 6-month ghost isn't hireable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Open-to-work + notice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Interview completion, saved-by-recruiters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JD hard-negatives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Whole career at IT-services / consulting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Pure research, no production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Based abroad and won't relocate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‘Architect’ who hasn't coded in 18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These sharpen precision at the very top, where the score is decided.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B2A41"/>
                </a:solidFill>
                <a:latin typeface="Cambria"/>
              </a:rPr>
              <a:t>Every layer earned its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NDCG@10, scored by an independent third model (Llama-3.3-70B)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443630"/>
            <a:ext cx="1645920" cy="1814169"/>
          </a:xfrm>
          <a:prstGeom prst="roundRect">
            <a:avLst>
              <a:gd name="adj" fmla="val 4000"/>
            </a:avLst>
          </a:prstGeom>
          <a:solidFill>
            <a:srgbClr val="CF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071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B2A41"/>
                </a:solidFill>
                <a:latin typeface="Cambria"/>
              </a:rPr>
              <a:t>0.64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3455F"/>
                </a:solidFill>
                <a:latin typeface="Calibri"/>
              </a:rPr>
              <a:t>Rule-only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763316"/>
            <a:ext cx="1645920" cy="2494483"/>
          </a:xfrm>
          <a:prstGeom prst="roundRect">
            <a:avLst>
              <a:gd name="adj" fmla="val 4000"/>
            </a:avLst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39" y="226039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B2A41"/>
                </a:solidFill>
                <a:latin typeface="Cambria"/>
              </a:rPr>
              <a:t>0.88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39" y="5349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3455F"/>
                </a:solidFill>
                <a:latin typeface="Calibri"/>
              </a:rPr>
              <a:t>+ Teacher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23160"/>
            <a:ext cx="1645920" cy="2834640"/>
          </a:xfrm>
          <a:prstGeom prst="roundRect">
            <a:avLst>
              <a:gd name="adj" fmla="val 4000"/>
            </a:avLst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920239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B2A41"/>
                </a:solidFill>
                <a:latin typeface="Cambria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349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3455F"/>
                </a:solidFill>
                <a:latin typeface="Calibri"/>
              </a:rPr>
              <a:t>+ Ensemble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257800"/>
            <a:ext cx="7680960" cy="16459"/>
          </a:xfrm>
          <a:prstGeom prst="rect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214884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233172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B0894A"/>
                </a:solidFill>
                <a:latin typeface="Cambria"/>
              </a:rPr>
              <a:t>10 / 10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FD6DE"/>
                </a:solidFill>
                <a:latin typeface="Calibri"/>
              </a:rPr>
              <a:t>top-10 are tier-5 by both judges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352044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370332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E7C66"/>
                </a:solidFill>
                <a:latin typeface="Cambria"/>
              </a:rPr>
              <a:t>0.98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NDCG@50 (ensemble)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Honest read: </a:t>
            </a:r>
            <a:r>
              <a:rPr sz="1250" b="0" i="1">
                <a:solidFill>
                  <a:srgbClr val="5A6472"/>
                </a:solidFill>
                <a:latin typeface="Calibri"/>
              </a:rPr>
              <a:t>three different models agree the top-10 is excellent — a strong proxy, not the organisers' hidden ground truth.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WHY IT HOLDS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B2A41"/>
                </a:solidFill>
                <a:latin typeface="Cambria"/>
              </a:rPr>
              <a:t>Built to survive every stage of judging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057399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0150" y="2166030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1984248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Reproducible &amp;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4688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The ranking step runs CPU-only, no network, under 5 minutes — it passes Stage-3 reproduction unchanged.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0" y="2057399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26550" y="2166030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9712" y="1984248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It reads profiles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4688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Zero honeypots and zero stuffers in the top 100 — the system understands, it doesn't pattern-match.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520440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0150" y="3629070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3447288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Measured, not guessed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931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A three-model eval harness gated every upgrade; nothing shipped without a proven gain.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3520440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26550" y="3629070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447288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Defensible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3931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Every layer is explainable in plain words — ready to walk through in the finalist interview.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59" y="4297680"/>
            <a:ext cx="2377440" cy="237744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0" y="548639"/>
            <a:ext cx="1463040" cy="146304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70448" y="1920240"/>
            <a:ext cx="457200" cy="457200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21324" y="2071116"/>
            <a:ext cx="155448" cy="155448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51460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mbria"/>
              </a:rPr>
              <a:t>Parakh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6118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 i="1">
                <a:solidFill>
                  <a:srgbClr val="B0894A"/>
                </a:solidFill>
                <a:latin typeface="Cambria"/>
              </a:rPr>
              <a:t>Assaying talent — genuine fits, surfaced and trusted.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4526280"/>
            <a:ext cx="4937760" cy="658368"/>
          </a:xfrm>
          <a:prstGeom prst="roundRect">
            <a:avLst>
              <a:gd name="adj" fmla="val 20000"/>
            </a:avLst>
          </a:prstGeom>
          <a:solidFill>
            <a:srgbClr val="33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452628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CFD6DE"/>
                </a:solidFill>
                <a:latin typeface="Consolas"/>
              </a:rPr>
              <a:t>python rank.py --candidates candidates.jsonl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0644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 i="0">
                <a:solidFill>
                  <a:srgbClr val="CFD6DE"/>
                </a:solidFill>
                <a:latin typeface="Calibri"/>
              </a:rPr>
              <a:t>Rayyan Ahmed Shaikh   ·   Team Parakh   ·   India Runs — Data &amp; AI 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